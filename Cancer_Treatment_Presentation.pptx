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8B0000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8B0000"/>
                </a:solidFill>
                <a:latin typeface="Arial"/>
              </a:rPr>
              <a:t>Accuracy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%</c:v>
                </c:pt>
              </c:strCache>
            </c:strRef>
          </c:tx>
          <c:spPr>
            <a:solidFill>
              <a:srgbClr val="5C6BC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BF4-40A3-B2B5-5C84396FD82C}"/>
              </c:ext>
            </c:extLst>
          </c:dPt>
          <c:dPt>
            <c:idx val="1"/>
            <c:invertIfNegative val="0"/>
            <c:bubble3D val="0"/>
            <c:spPr>
              <a:solidFill>
                <a:srgbClr val="26A6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BF4-40A3-B2B5-5C84396FD82C}"/>
              </c:ext>
            </c:extLst>
          </c:dPt>
          <c:dPt>
            <c:idx val="2"/>
            <c:invertIfNegative val="0"/>
            <c:bubble3D val="0"/>
            <c:spPr>
              <a:solidFill>
                <a:srgbClr val="EF535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BF4-40A3-B2B5-5C84396FD82C}"/>
              </c:ext>
            </c:extLst>
          </c:dPt>
          <c:dPt>
            <c:idx val="3"/>
            <c:invertIfNegative val="0"/>
            <c:bubble3D val="0"/>
            <c:spPr>
              <a:solidFill>
                <a:srgbClr val="8B0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BF4-40A3-B2B5-5C84396FD82C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12121"/>
                    </a:solidFill>
                    <a:latin typeface="Arial"/>
                  </a:defRPr>
                </a:pPr>
                <a:endParaRPr lang="en-PK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Logistic
Regression</c:v>
                </c:pt>
                <c:pt idx="1">
                  <c:v>Decision
Tree</c:v>
                </c:pt>
                <c:pt idx="2">
                  <c:v>Random
Forest</c:v>
                </c:pt>
                <c:pt idx="3">
                  <c:v>Gradient
Boosting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85</c:v>
                </c:pt>
                <c:pt idx="1">
                  <c:v>88</c:v>
                </c:pt>
                <c:pt idx="2">
                  <c:v>91</c:v>
                </c:pt>
                <c:pt idx="3">
                  <c:v>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BF4-40A3-B2B5-5C84396FD82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5757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80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5757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8B0000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8B0000"/>
                </a:solidFill>
                <a:latin typeface="Arial"/>
              </a:rPr>
              <a:t>AUC Score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AUC</c:v>
                </c:pt>
              </c:strCache>
            </c:strRef>
          </c:tx>
          <c:spPr>
            <a:solidFill>
              <a:srgbClr val="5C6BC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6AF-40F0-9B54-4E0F537461EC}"/>
              </c:ext>
            </c:extLst>
          </c:dPt>
          <c:dPt>
            <c:idx val="1"/>
            <c:invertIfNegative val="0"/>
            <c:bubble3D val="0"/>
            <c:spPr>
              <a:solidFill>
                <a:srgbClr val="26A6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6AF-40F0-9B54-4E0F537461EC}"/>
              </c:ext>
            </c:extLst>
          </c:dPt>
          <c:dPt>
            <c:idx val="2"/>
            <c:invertIfNegative val="0"/>
            <c:bubble3D val="0"/>
            <c:spPr>
              <a:solidFill>
                <a:srgbClr val="EF535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6AF-40F0-9B54-4E0F537461EC}"/>
              </c:ext>
            </c:extLst>
          </c:dPt>
          <c:dPt>
            <c:idx val="3"/>
            <c:invertIfNegative val="0"/>
            <c:bubble3D val="0"/>
            <c:spPr>
              <a:solidFill>
                <a:srgbClr val="8B0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6AF-40F0-9B54-4E0F537461EC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12121"/>
                    </a:solidFill>
                    <a:latin typeface="Arial"/>
                  </a:defRPr>
                </a:pPr>
                <a:endParaRPr lang="en-PK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Logistic
Regression</c:v>
                </c:pt>
                <c:pt idx="1">
                  <c:v>Decision
Tree</c:v>
                </c:pt>
                <c:pt idx="2">
                  <c:v>Random
Forest</c:v>
                </c:pt>
                <c:pt idx="3">
                  <c:v>Gradient
Boosting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0.92</c:v>
                </c:pt>
                <c:pt idx="1">
                  <c:v>0.94</c:v>
                </c:pt>
                <c:pt idx="2">
                  <c:v>0.97</c:v>
                </c:pt>
                <c:pt idx="3">
                  <c:v>0.98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6AF-40F0-9B54-4E0F537461E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5757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88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5757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00974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B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F535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AD145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6583680" y="365760"/>
            <a:ext cx="2926080" cy="2926080"/>
          </a:xfrm>
          <a:prstGeom prst="ellipse">
            <a:avLst/>
          </a:prstGeom>
          <a:solidFill>
            <a:srgbClr val="7B0000">
              <a:alpha val="40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6858000" y="640080"/>
            <a:ext cx="2377440" cy="2377440"/>
          </a:xfrm>
          <a:prstGeom prst="ellipse">
            <a:avLst/>
          </a:prstGeom>
          <a:solidFill>
            <a:srgbClr val="AD1457">
              <a:alpha val="30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7040880" y="82296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0" dirty="0">
                <a:solidFill>
                  <a:srgbClr val="000000"/>
                </a:solidFill>
              </a:rPr>
              <a:t>🎗️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Cancer Treatment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F5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Outcomes Prediction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224028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Science Project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5029200" cy="45720"/>
          </a:xfrm>
          <a:prstGeom prst="rect">
            <a:avLst/>
          </a:prstGeom>
          <a:solidFill>
            <a:srgbClr val="EF535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457200" y="292608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Goal  </a:t>
            </a:r>
            <a:r>
              <a:rPr lang="en-US" sz="13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6-month patient survival from treatment &amp; clinical data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328416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🧬 Dataset  </a:t>
            </a:r>
            <a:r>
              <a:rPr lang="en-US" sz="13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cancer patients • 24 features • 6 cancer types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B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📌 Problem Definition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03504"/>
            <a:ext cx="822960" cy="45720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8595360" cy="1188720"/>
          </a:xfrm>
          <a:prstGeom prst="rect">
            <a:avLst/>
          </a:prstGeom>
          <a:solidFill>
            <a:srgbClr val="E8EAF6"/>
          </a:solidFill>
          <a:ln w="635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274320" y="749808"/>
            <a:ext cx="8595360" cy="45720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does this matter?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14300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Cancer kills millions each year. Predicting who will survive 6 months lets oncologists prioritize aggressive treatment for high-risk patients, begin palliative care planning early, and guide family conversations — all before it's too late.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74320" y="2084832"/>
            <a:ext cx="2724912" cy="148132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0" name="Shape 8"/>
          <p:cNvSpPr/>
          <p:nvPr/>
        </p:nvSpPr>
        <p:spPr>
          <a:xfrm>
            <a:off x="274320" y="2084832"/>
            <a:ext cx="2724912" cy="347472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384048" y="2093976"/>
            <a:ext cx="2542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Type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4048" y="2468880"/>
            <a:ext cx="2542032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Binary Classification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(Survived: 1 or 0)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154680" y="2084832"/>
            <a:ext cx="2724912" cy="148132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4" name="Shape 12"/>
          <p:cNvSpPr/>
          <p:nvPr/>
        </p:nvSpPr>
        <p:spPr>
          <a:xfrm>
            <a:off x="3154680" y="2084832"/>
            <a:ext cx="2724912" cy="347472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5" name="Text 13"/>
          <p:cNvSpPr/>
          <p:nvPr/>
        </p:nvSpPr>
        <p:spPr>
          <a:xfrm>
            <a:off x="3264408" y="2093976"/>
            <a:ext cx="2542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64408" y="2468880"/>
            <a:ext cx="2542032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Survival_6Months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= Alive  |  0 = Not Alive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35040" y="2084832"/>
            <a:ext cx="2724912" cy="148132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8" name="Shape 16"/>
          <p:cNvSpPr/>
          <p:nvPr/>
        </p:nvSpPr>
        <p:spPr>
          <a:xfrm>
            <a:off x="6035040" y="2084832"/>
            <a:ext cx="2724912" cy="347472"/>
          </a:xfrm>
          <a:prstGeom prst="rect">
            <a:avLst/>
          </a:prstGeom>
          <a:solidFill>
            <a:srgbClr val="00695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9" name="Text 17"/>
          <p:cNvSpPr/>
          <p:nvPr/>
        </p:nvSpPr>
        <p:spPr>
          <a:xfrm>
            <a:off x="6144768" y="2093976"/>
            <a:ext cx="2542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Impact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44768" y="2468880"/>
            <a:ext cx="2542032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Earlier intervention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Saves lives &amp; resources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74320" y="3730752"/>
            <a:ext cx="8595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Approach: Full ML pipeline — cleaning → EDA → feature engineering → 4 ML models → evaluation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B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🧬 Dataset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03504"/>
            <a:ext cx="822960" cy="45720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201168" y="731520"/>
            <a:ext cx="16459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201168" y="731520"/>
            <a:ext cx="1645920" cy="6400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201168" y="8229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01168" y="13258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956816" y="731520"/>
            <a:ext cx="16459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0" name="Shape 8"/>
          <p:cNvSpPr/>
          <p:nvPr/>
        </p:nvSpPr>
        <p:spPr>
          <a:xfrm>
            <a:off x="1956816" y="731520"/>
            <a:ext cx="1645920" cy="64008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1956816" y="8229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23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956816" y="13258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712464" y="731520"/>
            <a:ext cx="16459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4" name="Shape 12"/>
          <p:cNvSpPr/>
          <p:nvPr/>
        </p:nvSpPr>
        <p:spPr>
          <a:xfrm>
            <a:off x="3712464" y="731520"/>
            <a:ext cx="1645920" cy="64008"/>
          </a:xfrm>
          <a:prstGeom prst="rect">
            <a:avLst/>
          </a:prstGeom>
          <a:solidFill>
            <a:srgbClr val="00695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5" name="Text 13"/>
          <p:cNvSpPr/>
          <p:nvPr/>
        </p:nvSpPr>
        <p:spPr>
          <a:xfrm>
            <a:off x="3712464" y="8229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6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712464" y="13258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Cancer Types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68112" y="731520"/>
            <a:ext cx="16459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8" name="Shape 16"/>
          <p:cNvSpPr/>
          <p:nvPr/>
        </p:nvSpPr>
        <p:spPr>
          <a:xfrm>
            <a:off x="5468112" y="731520"/>
            <a:ext cx="1645920" cy="64008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9" name="Text 17"/>
          <p:cNvSpPr/>
          <p:nvPr/>
        </p:nvSpPr>
        <p:spPr>
          <a:xfrm>
            <a:off x="5468112" y="8229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62%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5468112" y="13258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Survived (6mo)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223760" y="731520"/>
            <a:ext cx="16459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2" name="Shape 20"/>
          <p:cNvSpPr/>
          <p:nvPr/>
        </p:nvSpPr>
        <p:spPr>
          <a:xfrm>
            <a:off x="7223760" y="731520"/>
            <a:ext cx="1645920" cy="64008"/>
          </a:xfrm>
          <a:prstGeom prst="rect">
            <a:avLst/>
          </a:prstGeom>
          <a:solidFill>
            <a:srgbClr val="8B000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3" name="Text 21"/>
          <p:cNvSpPr/>
          <p:nvPr/>
        </p:nvSpPr>
        <p:spPr>
          <a:xfrm>
            <a:off x="7223760" y="8229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8B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38%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7223760" y="13258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Not Survive</a:t>
            </a:r>
            <a:endParaRPr lang="en-US" sz="105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874520"/>
          <a:ext cx="8595360" cy="2688336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Cancer 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Marker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🩺 Breast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Female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I–IV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CA125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🫁 Lung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I–IV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WBC Count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⚕️ Prostate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I–IV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PSA Level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🔬 Ovarian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Female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II–IV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CA125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🧫 Colorectal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I–IV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Hemoglobin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🎯 Cervical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Female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I–III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CA125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B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🧹 Data Cleaning &amp; EDA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03504"/>
            <a:ext cx="822960" cy="45720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3977640" cy="2971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274320" y="749808"/>
            <a:ext cx="3977640" cy="347472"/>
          </a:xfrm>
          <a:prstGeom prst="rect">
            <a:avLst/>
          </a:prstGeom>
          <a:solidFill>
            <a:srgbClr val="8B000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384048" y="768096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Steps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170432"/>
            <a:ext cx="3703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Zero missing values — clean dataset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11480" y="1517904"/>
            <a:ext cx="3703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No duplicate patient records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11480" y="1865376"/>
            <a:ext cx="3703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🗑️  Dropped PatientID (non-predictive)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11480" y="2212848"/>
            <a:ext cx="3703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 Cancer Stage → Ordinal 1–4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11480" y="2560320"/>
            <a:ext cx="3703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Yes/No columns → Binary 1/0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11480" y="2907792"/>
            <a:ext cx="3703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 Gender → Label encoded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11480" y="3255264"/>
            <a:ext cx="3703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 Cancer_Type &amp; Treatment → One-hot encoded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434840" y="749808"/>
            <a:ext cx="4434840" cy="2971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6" name="Shape 14"/>
          <p:cNvSpPr/>
          <p:nvPr/>
        </p:nvSpPr>
        <p:spPr>
          <a:xfrm>
            <a:off x="4434840" y="749808"/>
            <a:ext cx="4434840" cy="347472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/>
          <p:nvPr/>
        </p:nvSpPr>
        <p:spPr>
          <a:xfrm>
            <a:off x="4544568" y="768096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Insights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0" y="1170432"/>
            <a:ext cx="4160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62% survived • 38% did not — manageable split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0" y="1517904"/>
            <a:ext cx="4160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Stage IV = ~5% survival vs Stage I = ~98%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0" y="1865376"/>
            <a:ext cx="4160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🧓  Older patients (70+) dominate non-survivors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0" y="2212848"/>
            <a:ext cx="4160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💊  Performance Score &lt; 40 → almost certain non-survival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0" y="2560320"/>
            <a:ext cx="4160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Weight loss &gt; 5 kg strongly predicts poor outcome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0" y="2907792"/>
            <a:ext cx="4160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🩸  Low hemoglobin links to non-survival (anemia)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0" y="3255264"/>
            <a:ext cx="4160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Metastasis + complication = worst combined risk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274320" y="382219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Visualizations: survival pie, stage bar chart, biomarker boxplots, correlation heatmap, scatter plot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B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⚙️ Feature Engineering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03504"/>
            <a:ext cx="822960" cy="45720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365760" y="7315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clinically-informed features were engineered to capture risk patterns not visible in raw columns: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859536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274320" y="1115568"/>
            <a:ext cx="64008" cy="603504"/>
          </a:xfrm>
          <a:prstGeom prst="rect">
            <a:avLst/>
          </a:prstGeom>
          <a:solidFill>
            <a:srgbClr val="8B000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457200" y="116128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B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Severity_Score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1435608"/>
            <a:ext cx="4389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Cancer_Stage × 2  +  Metastasis × 3  +  Complication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0" y="1161288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Composite disease burden — captures overall threat level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74320" y="1783080"/>
            <a:ext cx="859536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2" name="Shape 10"/>
          <p:cNvSpPr/>
          <p:nvPr/>
        </p:nvSpPr>
        <p:spPr>
          <a:xfrm>
            <a:off x="274320" y="1783080"/>
            <a:ext cx="64008" cy="603504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/>
          <p:nvPr/>
        </p:nvSpPr>
        <p:spPr>
          <a:xfrm>
            <a:off x="457200" y="182880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3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Treatment_Intensity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2103120"/>
            <a:ext cx="4389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Chemo×2 + Radiation + Surgery×3 + Targeted×2 + Immuno×2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00400" y="1828800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Measures aggressiveness of care received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" y="2450592"/>
            <a:ext cx="859536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7" name="Shape 15"/>
          <p:cNvSpPr/>
          <p:nvPr/>
        </p:nvSpPr>
        <p:spPr>
          <a:xfrm>
            <a:off x="274320" y="2450592"/>
            <a:ext cx="64008" cy="603504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8" name="Text 16"/>
          <p:cNvSpPr/>
          <p:nvPr/>
        </p:nvSpPr>
        <p:spPr>
          <a:xfrm>
            <a:off x="457200" y="249631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Is_Anemic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2770632"/>
            <a:ext cx="4389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1  if  Hemoglobin &lt; 10.0 g/dL,  else  0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00400" y="2496312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Anemia indicates systemic weakness and disease burden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74320" y="3118104"/>
            <a:ext cx="859536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2" name="Shape 20"/>
          <p:cNvSpPr/>
          <p:nvPr/>
        </p:nvSpPr>
        <p:spPr>
          <a:xfrm>
            <a:off x="274320" y="3118104"/>
            <a:ext cx="64008" cy="603504"/>
          </a:xfrm>
          <a:prstGeom prst="rect">
            <a:avLst/>
          </a:prstGeom>
          <a:solidFill>
            <a:srgbClr val="F57F1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3" name="Text 21"/>
          <p:cNvSpPr/>
          <p:nvPr/>
        </p:nvSpPr>
        <p:spPr>
          <a:xfrm>
            <a:off x="457200" y="316382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7F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High_Pain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3438144"/>
            <a:ext cx="4389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1  if  Pain_Level ≥ 7,  else  0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00400" y="3163824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High pain signals advanced disease or treatment failure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74320" y="3785616"/>
            <a:ext cx="859536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7" name="Shape 25"/>
          <p:cNvSpPr/>
          <p:nvPr/>
        </p:nvSpPr>
        <p:spPr>
          <a:xfrm>
            <a:off x="274320" y="3785616"/>
            <a:ext cx="64008" cy="603504"/>
          </a:xfrm>
          <a:prstGeom prst="rect">
            <a:avLst/>
          </a:prstGeom>
          <a:solidFill>
            <a:srgbClr val="00695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8" name="Text 26"/>
          <p:cNvSpPr/>
          <p:nvPr/>
        </p:nvSpPr>
        <p:spPr>
          <a:xfrm>
            <a:off x="457200" y="383133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6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Severe_Weight_Loss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57200" y="4105656"/>
            <a:ext cx="4389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1  if  Weight_Loss_kg &gt; 5.0,  else  0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200400" y="3831336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Cachexia / malnutrition — a major predictor of decline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274320" y="4453128"/>
            <a:ext cx="859536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2" name="Shape 30"/>
          <p:cNvSpPr/>
          <p:nvPr/>
        </p:nvSpPr>
        <p:spPr>
          <a:xfrm>
            <a:off x="274320" y="4453128"/>
            <a:ext cx="64008" cy="603504"/>
          </a:xfrm>
          <a:prstGeom prst="rect">
            <a:avLst/>
          </a:prstGeom>
          <a:solidFill>
            <a:srgbClr val="6A1B9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3" name="Text 31"/>
          <p:cNvSpPr/>
          <p:nvPr/>
        </p:nvSpPr>
        <p:spPr>
          <a:xfrm>
            <a:off x="457200" y="449884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A1B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Elderly_Patient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57200" y="4773168"/>
            <a:ext cx="4389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1  if  Age ≥ 70,  else  0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200400" y="4498848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Elderly patients face higher vulnerability across all cancer types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B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🤖 Model Building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03504"/>
            <a:ext cx="822960" cy="45720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365760" y="731520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ML models were trained using an 80/20 stratified train-test split: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01168" y="1143000"/>
            <a:ext cx="2084832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201168" y="1143000"/>
            <a:ext cx="2084832" cy="502920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292608" y="116128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92608" y="1408176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Baseline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92608" y="1737360"/>
            <a:ext cx="1901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3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10896" y="2176272"/>
            <a:ext cx="1865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&amp; interpretable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10896" y="2578608"/>
            <a:ext cx="1865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StandardScaler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10896" y="2980944"/>
            <a:ext cx="1865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probability calibration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414016" y="1143000"/>
            <a:ext cx="2084832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5" name="Shape 13"/>
          <p:cNvSpPr/>
          <p:nvPr/>
        </p:nvSpPr>
        <p:spPr>
          <a:xfrm>
            <a:off x="2414016" y="1143000"/>
            <a:ext cx="2084832" cy="502920"/>
          </a:xfrm>
          <a:prstGeom prst="rect">
            <a:avLst/>
          </a:prstGeom>
          <a:solidFill>
            <a:srgbClr val="00695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6" name="Text 14"/>
          <p:cNvSpPr/>
          <p:nvPr/>
        </p:nvSpPr>
        <p:spPr>
          <a:xfrm>
            <a:off x="2505456" y="116128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🌳 02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505456" y="1408176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Model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05456" y="1737360"/>
            <a:ext cx="1901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6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Tree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523744" y="2176272"/>
            <a:ext cx="1865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depth = 6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523744" y="2578608"/>
            <a:ext cx="1865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scaling needed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523744" y="2980944"/>
            <a:ext cx="1865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visualize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26864" y="1143000"/>
            <a:ext cx="2084832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3" name="Shape 21"/>
          <p:cNvSpPr/>
          <p:nvPr/>
        </p:nvSpPr>
        <p:spPr>
          <a:xfrm>
            <a:off x="4626864" y="1143000"/>
            <a:ext cx="2084832" cy="502920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4" name="Text 22"/>
          <p:cNvSpPr/>
          <p:nvPr/>
        </p:nvSpPr>
        <p:spPr>
          <a:xfrm>
            <a:off x="4718304" y="116128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🌲 03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718304" y="1408176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Model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18304" y="1737360"/>
            <a:ext cx="1901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736592" y="2176272"/>
            <a:ext cx="1865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decision trees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36592" y="2578608"/>
            <a:ext cx="1865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imbalance well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36592" y="2980944"/>
            <a:ext cx="1865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scores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839712" y="1143000"/>
            <a:ext cx="2084832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1" name="Shape 29"/>
          <p:cNvSpPr/>
          <p:nvPr/>
        </p:nvSpPr>
        <p:spPr>
          <a:xfrm>
            <a:off x="6839712" y="1143000"/>
            <a:ext cx="2084832" cy="502920"/>
          </a:xfrm>
          <a:prstGeom prst="rect">
            <a:avLst/>
          </a:prstGeom>
          <a:solidFill>
            <a:srgbClr val="8B000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2" name="Text 30"/>
          <p:cNvSpPr/>
          <p:nvPr/>
        </p:nvSpPr>
        <p:spPr>
          <a:xfrm>
            <a:off x="6931152" y="116128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04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931152" y="1408176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931152" y="1737360"/>
            <a:ext cx="1901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B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Boosting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949440" y="2176272"/>
            <a:ext cx="1865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boosted trees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949440" y="2578608"/>
            <a:ext cx="1865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 = 0.1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949440" y="2980944"/>
            <a:ext cx="1865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error correction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976872" y="4297680"/>
            <a:ext cx="1828800" cy="256032"/>
          </a:xfrm>
          <a:prstGeom prst="rect">
            <a:avLst/>
          </a:prstGeom>
          <a:solidFill>
            <a:srgbClr val="8B000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9" name="Text 37"/>
          <p:cNvSpPr/>
          <p:nvPr/>
        </p:nvSpPr>
        <p:spPr>
          <a:xfrm>
            <a:off x="6976872" y="430682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B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📊 Model Evaluation Results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03504"/>
            <a:ext cx="822960" cy="45720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PK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77240"/>
          <a:ext cx="8595360" cy="2286000"/>
        </p:xfrm>
        <a:graphic>
          <a:graphicData uri="http://schemas.openxmlformats.org/drawingml/2006/table">
            <a:tbl>
              <a:tblPr/>
              <a:tblGrid>
                <a:gridCol w="1432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2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2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2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32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325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 Score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~85%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~0.92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~0.84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~0.81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~88%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~0.94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~0.87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~0.85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 ✓✓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~91%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~0.97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~0.90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~0.88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✓✓✓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~93%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~0.98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~0.92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~0.91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🏆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Chart 0"/>
          <p:cNvGraphicFramePr/>
          <p:nvPr/>
        </p:nvGraphicFramePr>
        <p:xfrm>
          <a:off x="274320" y="2926080"/>
          <a:ext cx="411480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1"/>
          <p:cNvGraphicFramePr/>
          <p:nvPr/>
        </p:nvGraphicFramePr>
        <p:xfrm>
          <a:off x="4663440" y="2926080"/>
          <a:ext cx="411480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B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💡 Key Findings &amp; Clinical Recommendations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03504"/>
            <a:ext cx="822960" cy="45720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206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64008" cy="822960"/>
          </a:xfrm>
          <a:prstGeom prst="rect">
            <a:avLst/>
          </a:prstGeom>
          <a:solidFill>
            <a:srgbClr val="8B000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365760" y="950976"/>
            <a:ext cx="502920" cy="502920"/>
          </a:xfrm>
          <a:prstGeom prst="ellipse">
            <a:avLst/>
          </a:prstGeom>
          <a:solidFill>
            <a:srgbClr val="8B0000">
              <a:alpha val="18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365760" y="9326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🔬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60120" y="859536"/>
            <a:ext cx="3401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Cancer Stage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1115568"/>
            <a:ext cx="34015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IV patients have ~5% survival rate. Stage I → ~98%. Stage is the top predictor.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764792"/>
            <a:ext cx="4206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2" name="Shape 10"/>
          <p:cNvSpPr/>
          <p:nvPr/>
        </p:nvSpPr>
        <p:spPr>
          <a:xfrm>
            <a:off x="274320" y="1764792"/>
            <a:ext cx="64008" cy="822960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365760" y="1911096"/>
            <a:ext cx="502920" cy="502920"/>
          </a:xfrm>
          <a:prstGeom prst="ellipse">
            <a:avLst/>
          </a:prstGeom>
          <a:solidFill>
            <a:srgbClr val="C62828">
              <a:alpha val="18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365760" y="18928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🩸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60120" y="1819656"/>
            <a:ext cx="3401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 Hemoglobin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0120" y="2075688"/>
            <a:ext cx="34015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Anemia (Hb &lt; 10 g/dL) strongly linked to non-survival — reflects systemic disease burden.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724912"/>
            <a:ext cx="4206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8" name="Shape 16"/>
          <p:cNvSpPr/>
          <p:nvPr/>
        </p:nvSpPr>
        <p:spPr>
          <a:xfrm>
            <a:off x="274320" y="2724912"/>
            <a:ext cx="64008" cy="822960"/>
          </a:xfrm>
          <a:prstGeom prst="rect">
            <a:avLst/>
          </a:prstGeom>
          <a:solidFill>
            <a:srgbClr val="F57F1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9" name="Shape 17"/>
          <p:cNvSpPr/>
          <p:nvPr/>
        </p:nvSpPr>
        <p:spPr>
          <a:xfrm>
            <a:off x="365760" y="2871216"/>
            <a:ext cx="502920" cy="502920"/>
          </a:xfrm>
          <a:prstGeom prst="ellipse">
            <a:avLst/>
          </a:prstGeom>
          <a:solidFill>
            <a:srgbClr val="F57F17">
              <a:alpha val="18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0" name="Text 18"/>
          <p:cNvSpPr/>
          <p:nvPr/>
        </p:nvSpPr>
        <p:spPr>
          <a:xfrm>
            <a:off x="365760" y="28529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60120" y="2779776"/>
            <a:ext cx="3401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7F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Weight Loss &gt; 5 kg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60120" y="3035808"/>
            <a:ext cx="34015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weight loss signals cachexia — a critical warning sign of treatment failure.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804672"/>
            <a:ext cx="4206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4" name="Shape 22"/>
          <p:cNvSpPr/>
          <p:nvPr/>
        </p:nvSpPr>
        <p:spPr>
          <a:xfrm>
            <a:off x="4663440" y="804672"/>
            <a:ext cx="64008" cy="822960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5" name="Shape 23"/>
          <p:cNvSpPr/>
          <p:nvPr/>
        </p:nvSpPr>
        <p:spPr>
          <a:xfrm>
            <a:off x="4754880" y="950976"/>
            <a:ext cx="502920" cy="502920"/>
          </a:xfrm>
          <a:prstGeom prst="ellipse">
            <a:avLst/>
          </a:prstGeom>
          <a:solidFill>
            <a:srgbClr val="1A237E">
              <a:alpha val="18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6" name="Text 24"/>
          <p:cNvSpPr/>
          <p:nvPr/>
        </p:nvSpPr>
        <p:spPr>
          <a:xfrm>
            <a:off x="4754880" y="9326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349240" y="859536"/>
            <a:ext cx="3401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Score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49240" y="1115568"/>
            <a:ext cx="34015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scoring below 40 on functional status rarely survive beyond 6 months.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63440" y="1764792"/>
            <a:ext cx="4206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0" name="Shape 28"/>
          <p:cNvSpPr/>
          <p:nvPr/>
        </p:nvSpPr>
        <p:spPr>
          <a:xfrm>
            <a:off x="4663440" y="1764792"/>
            <a:ext cx="64008" cy="822960"/>
          </a:xfrm>
          <a:prstGeom prst="rect">
            <a:avLst/>
          </a:prstGeom>
          <a:solidFill>
            <a:srgbClr val="00695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1" name="Shape 29"/>
          <p:cNvSpPr/>
          <p:nvPr/>
        </p:nvSpPr>
        <p:spPr>
          <a:xfrm>
            <a:off x="4754880" y="1911096"/>
            <a:ext cx="502920" cy="502920"/>
          </a:xfrm>
          <a:prstGeom prst="ellipse">
            <a:avLst/>
          </a:prstGeom>
          <a:solidFill>
            <a:srgbClr val="00695C">
              <a:alpha val="18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2" name="Text 30"/>
          <p:cNvSpPr/>
          <p:nvPr/>
        </p:nvSpPr>
        <p:spPr>
          <a:xfrm>
            <a:off x="4754880" y="18928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🧬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349240" y="1819656"/>
            <a:ext cx="3401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Metastasis + Complication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49240" y="2075688"/>
            <a:ext cx="34015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they form the highest-risk combination — nearly always fatal within 6 months.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663440" y="3108960"/>
            <a:ext cx="4206240" cy="1600200"/>
          </a:xfrm>
          <a:prstGeom prst="rect">
            <a:avLst/>
          </a:prstGeom>
          <a:solidFill>
            <a:srgbClr val="8B0000"/>
          </a:solidFill>
          <a:ln w="635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6" name="Text 34"/>
          <p:cNvSpPr/>
          <p:nvPr/>
        </p:nvSpPr>
        <p:spPr>
          <a:xfrm>
            <a:off x="4773168" y="317296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5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🏥 Clinical Recommendations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773168" y="354787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Auto-flag Severity_Score ≥ 9 → palliative care review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773168" y="386791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hemoglobin checks during chemotherapy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773168" y="418795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nutrition program if weight loss &gt; 3 kg/month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773168" y="450799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model as oncology decision-support tool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8B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F535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AD145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5669280" y="274320"/>
            <a:ext cx="3840480" cy="3840480"/>
          </a:xfrm>
          <a:prstGeom prst="ellipse">
            <a:avLst/>
          </a:prstGeom>
          <a:solidFill>
            <a:srgbClr val="7B0000">
              <a:alpha val="28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6217920" y="822960"/>
            <a:ext cx="2743200" cy="2743200"/>
          </a:xfrm>
          <a:prstGeom prst="ellipse">
            <a:avLst/>
          </a:prstGeom>
          <a:solidFill>
            <a:srgbClr val="AD1457">
              <a:alpha val="20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F5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 Project Summary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896112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Cancer Treatment Outcomes Prediction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1572768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🎗️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dataset: 100 patients, 6 cancer types, 24 clinical features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🎗️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9-step Data Science workflow followed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450592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🎗️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engineered features based on clinical knowledge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889504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🎗️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ML models — Gradient Boosting wins with 93% accuracy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328416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🎗️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of 0.98 — near-perfect discrimination ability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767328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🎗️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clinical recommendations delivered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224528"/>
            <a:ext cx="5486400" cy="45720"/>
          </a:xfrm>
          <a:prstGeom prst="rect">
            <a:avLst/>
          </a:prstGeom>
          <a:solidFill>
            <a:srgbClr val="EF535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5" name="Text 13"/>
          <p:cNvSpPr/>
          <p:nvPr/>
        </p:nvSpPr>
        <p:spPr>
          <a:xfrm>
            <a:off x="457200" y="43434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F5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57200" y="477316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Data Science Final Project  |  Week 8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909</Words>
  <Application>Microsoft Office PowerPoint</Application>
  <PresentationFormat>On-screen Show (16:9)</PresentationFormat>
  <Paragraphs>196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Cancer Treatment Outcomes Prediction</dc:title>
  <dc:subject>PptxGenJS Presentation</dc:subject>
  <dc:creator>PptxGenJS</dc:creator>
  <cp:lastModifiedBy>Masooma Qureshi</cp:lastModifiedBy>
  <cp:revision>3</cp:revision>
  <dcterms:created xsi:type="dcterms:W3CDTF">2026-05-04T08:07:26Z</dcterms:created>
  <dcterms:modified xsi:type="dcterms:W3CDTF">2026-05-04T08:29:13Z</dcterms:modified>
</cp:coreProperties>
</file>